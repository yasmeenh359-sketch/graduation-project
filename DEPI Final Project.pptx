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66" r:id="rId2"/>
    <p:sldId id="268" r:id="rId3"/>
    <p:sldId id="269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82" r:id="rId13"/>
    <p:sldId id="280" r:id="rId14"/>
    <p:sldId id="283" r:id="rId15"/>
    <p:sldId id="284" r:id="rId16"/>
    <p:sldId id="285" r:id="rId17"/>
    <p:sldId id="290" r:id="rId18"/>
    <p:sldId id="294" r:id="rId19"/>
    <p:sldId id="291" r:id="rId20"/>
    <p:sldId id="292" r:id="rId21"/>
    <p:sldId id="293" r:id="rId22"/>
    <p:sldId id="296" r:id="rId23"/>
    <p:sldId id="297" r:id="rId24"/>
    <p:sldId id="286" r:id="rId25"/>
    <p:sldId id="287" r:id="rId26"/>
    <p:sldId id="288" r:id="rId27"/>
    <p:sldId id="289" r:id="rId28"/>
    <p:sldId id="281" r:id="rId29"/>
    <p:sldId id="259" r:id="rId30"/>
  </p:sldIdLst>
  <p:sldSz cx="12192000" cy="6858000"/>
  <p:notesSz cx="6858000" cy="9144000"/>
  <p:embeddedFontLst>
    <p:embeddedFont>
      <p:font typeface="Book Antiqua" panose="02040602050305030304" pitchFamily="18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B46654A1-7EBF-B0F7-887E-05E606DCD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8635C23F-68BB-6399-B1BA-E00A3DDB8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87E52BFB-6AA8-6636-0EB1-CE6F4A2F78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5643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EAEEABE7-2A6D-232D-D0CC-37BC7894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66F73162-2803-DA62-A664-8C0F4D2E0B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8FE355EC-1096-EE1E-1761-F7E8512B7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7240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520B6F82-02BD-997B-F6B0-2B1902BDB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C256DA3B-AEF1-F754-4150-019F9739F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1BBA2066-EA88-AC7B-229E-E90E9B7E59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5060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19C92458-9467-828D-2B83-52105B7C6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05AAEB6B-4BB4-F420-03FE-7C06102EB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2B1395B6-0862-C1C4-72C7-63C1A13BD7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4783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4F4BE3C0-011B-31C5-9935-B1C470DE2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AE0743DE-D75E-136E-5672-D8DF2B8517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946C3A7A-7E77-99CA-8B8F-C88D01EB1B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3884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ACEE19FA-C714-6970-A116-CC751319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E936C85D-AA95-FC07-DDA2-200D6E29F9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E2D6E97A-F79A-B6B4-1F16-36004500A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61238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0B624CBF-1F38-A476-9302-ACFF0ED34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2E34C997-C87A-0508-8019-1C7D33BE1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2E179290-9CF2-1E47-28D3-DB0C7DF11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307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E053B362-2853-0F0B-C5EF-0725C5588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6B33EFEC-0394-819C-231F-DD2FDB58C0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3115F846-D199-485A-D6AD-87148D19FB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70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D37A0AE0-F4E0-3C50-CA6A-EF4BF753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3BB45D61-284D-5C93-5DE6-5FD5F856A4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CECDA956-4E65-EB23-5473-449B317167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9451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1224DB1C-C900-9D2E-3F44-0839A9B5D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47B3A917-F973-AA50-C49A-DD069C37F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3DA3BD11-E9A6-69BC-5BD0-8EBE74A00C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9957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F6549AD2-66F5-E2C4-6946-268FDB18D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9FF4A6BE-8234-07EA-E89A-B44AD7233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2578273E-1032-045A-F9AB-4865C37378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4394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24620BCD-FBFE-FA31-B058-857F0B696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2CE84681-FCAC-22B3-960E-E6D616331F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11547280-B095-21C8-EBD3-2EE5664156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30760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12073F60-5694-BA46-F315-D11201D2D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A9B580AF-304D-73D6-747F-FC1FB4CBA3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C71083F1-07C6-3261-CE5A-334884178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34128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C3F15296-FB3E-E919-9453-891B98EC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361CCA7E-ECC7-A0B4-24AD-97D047887D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4EEFBD2F-06FE-C722-46A8-C6C5F71F25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12845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9CA02B4F-9B7D-9CA8-989E-D1AFED0C8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C6F0C438-9368-0DD4-A9AC-B6AEF5B21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39ACE043-EE68-A01E-9F6D-0C20FCACA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7797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D766C347-143C-9227-F284-8ADBA8347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AF222B88-3C41-9578-8131-AB1FE1E75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B87BBDCD-4498-7242-6AEA-E8B537AB36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25368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6C17BCFE-9237-778D-DB99-0A7555378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315CF40E-3966-B978-0E36-8AE733F89D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7D786C89-E07C-F229-3548-54A825C64B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88464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2CDC7C70-081F-92EB-C889-8662A4B8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39749BEF-9D47-15CE-05E1-4BA40CC71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3EEE3609-5C4E-1BE0-2D48-BFDE0CFF52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9421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5B60C400-A4E4-4C9A-E138-F50A5B2E7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70B3B355-DE2D-AA24-4855-B318449488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7ED7B270-B0CD-B08F-D73D-89E5CAE71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07371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B19108C1-709E-6F96-F05B-4A3321D7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7A215259-FCC0-06D0-AD55-44BB137DA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762003E1-710E-F667-811E-3671CF0BC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67519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FCF80313-B7C5-BA55-1E5A-03EC59E80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BB6CE39B-B7A9-A255-DCB7-B588DE4B98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3DD95160-A3B9-6D46-CCCA-836A4A591E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04537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6E871C1B-0CAC-6F1C-C2BB-9A7705C2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BCBC6E98-123A-FB15-F54D-FC6E82B49C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B6B89FD1-959B-8FB5-2087-E0EEF1376B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68416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2861EDD0-2112-F577-2136-F7A9845D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C6F011F8-1FBD-993D-1BA1-D0012F0DC2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F25F41A1-AF24-DABC-022E-154985BAEB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84475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1A8FCBFA-80A7-F140-8661-64B64F262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93F67BE4-E386-FC28-221E-0DD17BC70D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05E98F1C-0574-44AC-8A1F-531DCCE157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6387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CF8F4382-BD24-C443-9101-BBD4EBCD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F0CDD993-0B65-442C-F73E-64FB931086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63592510-4EF6-BED2-AD20-005ADA9BF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20534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E01C1482-4863-E481-EAF5-CFA1AA0A8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0746C95A-34E0-06FA-9280-B482F6F442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72B43575-7268-8467-107C-6E732D3AB8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63594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>
          <a:extLst>
            <a:ext uri="{FF2B5EF4-FFF2-40B4-BE49-F238E27FC236}">
              <a16:creationId xmlns:a16="http://schemas.microsoft.com/office/drawing/2014/main" id="{C73D8EBD-09EF-1E48-35BC-31C617DA2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>
            <a:extLst>
              <a:ext uri="{FF2B5EF4-FFF2-40B4-BE49-F238E27FC236}">
                <a16:creationId xmlns:a16="http://schemas.microsoft.com/office/drawing/2014/main" id="{F1CA6423-0C10-6906-2046-FE0530E1C8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>
            <a:extLst>
              <a:ext uri="{FF2B5EF4-FFF2-40B4-BE49-F238E27FC236}">
                <a16:creationId xmlns:a16="http://schemas.microsoft.com/office/drawing/2014/main" id="{E9AF08F1-201F-CCEA-24E6-958005A082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51715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136/bmj.2.6051.1525" TargetMode="External"/><Relationship Id="rId5" Type="http://schemas.openxmlformats.org/officeDocument/2006/relationships/hyperlink" Target="https://doi.org/10.1016/j.ejca.2007.12.026" TargetMode="External"/><Relationship Id="rId4" Type="http://schemas.openxmlformats.org/officeDocument/2006/relationships/hyperlink" Target="https://www.who.int/news-room/fact-sheets/detail/tobacco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02/1097-0142(19530901)6:5" TargetMode="External"/><Relationship Id="rId4" Type="http://schemas.openxmlformats.org/officeDocument/2006/relationships/hyperlink" Target="https://www.who.int/news-room/fact-sheets/detail/tobacco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DC859A-C810-F376-DF73-A71E20FA32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700" b="1" dirty="0">
                <a:solidFill>
                  <a:schemeClr val="bg2">
                    <a:lumMod val="50000"/>
                  </a:schemeClr>
                </a:solidFill>
                <a:latin typeface="Book Antiqua" panose="02040602050305030304" pitchFamily="18" charset="0"/>
              </a:rPr>
              <a:t>Smoking Health Risk Analysis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2C356E9-5F08-1299-B581-4A71131DC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12882"/>
            <a:ext cx="9144000" cy="2344918"/>
          </a:xfrm>
        </p:spPr>
        <p:txBody>
          <a:bodyPr>
            <a:noAutofit/>
          </a:bodyPr>
          <a:lstStyle/>
          <a:p>
            <a:r>
              <a:rPr lang="en-US" sz="2800" b="1" u="sng" dirty="0">
                <a:solidFill>
                  <a:schemeClr val="bg2">
                    <a:lumMod val="75000"/>
                  </a:schemeClr>
                </a:solidFill>
              </a:rPr>
              <a:t>Team Leader : </a:t>
            </a:r>
            <a:r>
              <a:rPr lang="en-US" sz="2800" b="1" dirty="0">
                <a:solidFill>
                  <a:schemeClr val="bg2">
                    <a:lumMod val="75000"/>
                  </a:schemeClr>
                </a:solidFill>
              </a:rPr>
              <a:t>Yasmen Hassan Sayed</a:t>
            </a:r>
          </a:p>
          <a:p>
            <a:r>
              <a:rPr lang="en-US" sz="2800" b="1" dirty="0">
                <a:solidFill>
                  <a:schemeClr val="bg2">
                    <a:lumMod val="75000"/>
                  </a:schemeClr>
                </a:solidFill>
              </a:rPr>
              <a:t>Merola Medhat Momtaz</a:t>
            </a:r>
          </a:p>
          <a:p>
            <a:r>
              <a:rPr lang="en-US" sz="2800" b="1" dirty="0">
                <a:solidFill>
                  <a:schemeClr val="bg2">
                    <a:lumMod val="75000"/>
                  </a:schemeClr>
                </a:solidFill>
              </a:rPr>
              <a:t>Salma Yasser Khalaf</a:t>
            </a:r>
          </a:p>
          <a:p>
            <a:r>
              <a:rPr lang="en-US" sz="2800" b="1" dirty="0">
                <a:solidFill>
                  <a:schemeClr val="bg2">
                    <a:lumMod val="75000"/>
                  </a:schemeClr>
                </a:solidFill>
              </a:rPr>
              <a:t>Esraa Ali Osman</a:t>
            </a:r>
          </a:p>
          <a:p>
            <a:r>
              <a:rPr lang="en-US" sz="2800" b="1" dirty="0" err="1">
                <a:solidFill>
                  <a:schemeClr val="bg2">
                    <a:lumMod val="75000"/>
                  </a:schemeClr>
                </a:solidFill>
              </a:rPr>
              <a:t>Mohraiel</a:t>
            </a:r>
            <a:r>
              <a:rPr lang="en-US" sz="2800" b="1" dirty="0">
                <a:solidFill>
                  <a:schemeClr val="bg2">
                    <a:lumMod val="75000"/>
                  </a:schemeClr>
                </a:solidFill>
              </a:rPr>
              <a:t> Maher </a:t>
            </a:r>
          </a:p>
          <a:p>
            <a:r>
              <a:rPr lang="en-US" sz="3600" b="1" u="sng" dirty="0">
                <a:solidFill>
                  <a:schemeClr val="bg2">
                    <a:lumMod val="75000"/>
                  </a:schemeClr>
                </a:solidFill>
              </a:rPr>
              <a:t>Date :</a:t>
            </a:r>
            <a:r>
              <a:rPr lang="en-US" sz="3600" b="1" dirty="0">
                <a:solidFill>
                  <a:schemeClr val="bg2">
                    <a:lumMod val="75000"/>
                  </a:schemeClr>
                </a:solidFill>
              </a:rPr>
              <a:t> 5-7-2026</a:t>
            </a:r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dirty="0"/>
              <a:t>Smoking Analysis</a:t>
            </a:r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E0295A1-3AEC-1EA2-58F1-FD4A8C06D63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68E126D5-77A3-5D4D-F05F-CD63221F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A7FCD2-13D2-0399-78EF-FB90ECE18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819" y="6391373"/>
            <a:ext cx="4509155" cy="1102936"/>
          </a:xfrm>
        </p:spPr>
        <p:txBody>
          <a:bodyPr>
            <a:normAutofit fontScale="90000"/>
          </a:bodyPr>
          <a:lstStyle/>
          <a:p>
            <a:pPr algn="l"/>
            <a:r>
              <a:rPr lang="en-US" sz="2200" b="1" dirty="0">
                <a:solidFill>
                  <a:schemeClr val="bg1"/>
                </a:solidFill>
                <a:latin typeface="+mn-lt"/>
              </a:rPr>
              <a:t>Smoking Analysis </a:t>
            </a:r>
            <a:br>
              <a:rPr lang="en-US" dirty="0"/>
            </a:br>
            <a:endParaRPr lang="en-US" dirty="0"/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3E21C438-66E5-9EAF-527A-136C3D0D68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6272F1D4-7BCA-805C-EA88-67C282E33958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246613" y="6300550"/>
            <a:ext cx="1362250" cy="41133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F7940AB-991E-9782-6DE7-830A2C1379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6EBBE68C-F639-1B1F-195E-1263B15CC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1473" y="552134"/>
            <a:ext cx="10294070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Smoking has become increasingly about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60%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widespread in various forms, including traditional cigarettes, vaping, and other tobacco products. These habits significantly increase the risk of developing serious health conditions such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cancer, lung diseases, high cholesterol, and obesity-related complications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(high BMI).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The percentage of smokers attempting to </a:t>
            </a: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quit is 15%,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which is an extremely low figure 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Despite growing awareness of these health risks, many smokers struggle to quit due to nicotine addiction, repeated unsuccessful attempts, and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cost or limited accessibility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effective smoking cessation programs. As a result, there is a need for 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accessible solution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helps individuals better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their health risks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while supporting them throughout their journey toward quitting smoking.</a:t>
            </a:r>
          </a:p>
        </p:txBody>
      </p:sp>
    </p:spTree>
    <p:extLst>
      <p:ext uri="{BB962C8B-B14F-4D97-AF65-F5344CB8AC3E}">
        <p14:creationId xmlns:p14="http://schemas.microsoft.com/office/powerpoint/2010/main" val="39281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62562C57-994A-D7B5-300C-61A77C4F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3C1A78-2370-8DFE-70F5-7C755A49B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608"/>
            <a:ext cx="9144000" cy="1253765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endParaRPr lang="en-US" dirty="0"/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D26F6B25-4C11-1075-B2D0-BA4CFB0A743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A2F4A3FC-9FC8-D914-4264-F8A8888769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E34C62C-5EE2-CD3B-2111-51F6D2B80D03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C745332-D870-B08E-1893-0383F4EA02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C87AE30A-BA15-7880-A746-C692EE5EE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F57B9F-B09B-5D74-3F82-B1BDC4A6E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449" y="972469"/>
            <a:ext cx="10048973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Overview of the Proposed 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supports smokers throughout their smoking cessation journey.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quitting plan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guides users step by step over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3–6 months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and weekly follow-ups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monitor progress and keep users motivated.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customized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healthy lifestyle routines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including nutrition, hydration, sleep, and physical activity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 users to undergo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medical checkups and screenings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monitor their health and support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detection of smoking-related diseases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including cancer.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continuous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psychological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help users overcome nicotine addiction, manage withdrawal symptoms, and maintain motivation.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gradual smoking reduction strategy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aiming to reduce cigarette consumption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approximately 2 cigarettes per week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to reduce The 8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Cigrattes</a:t>
            </a:r>
            <a:r>
              <a:rPr lang="en-US" alt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Per Day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the quitting process more achievable and sustainable.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user progress through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allowing users to monitor their achievements and stay engaged throughout their journey.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10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6AD787E1-F559-0C2C-89E1-8EB66BE58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1AD470-D1F2-D0DC-F6A3-01B2BE4B69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608"/>
            <a:ext cx="9144000" cy="1253765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endParaRPr lang="en-US" dirty="0"/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35456657-5CB6-9408-21D8-D45252C354F3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1601840A-ECBA-C9AC-1482-A6248F2E4F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A267D42D-D761-1ACA-A755-4FB48ED5646E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964473C-048C-682B-0B7D-B3146FC8D3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1FF7F74F-4596-0EA9-1403-2D1A27093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98BE82B-22E8-30AC-EAD6-66CCD963B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03" y="939038"/>
            <a:ext cx="10548594" cy="5724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Unique Value Proposition (UVP)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800" b="1" dirty="0">
                <a:solidFill>
                  <a:schemeClr val="tx1"/>
                </a:solidFill>
                <a:latin typeface="Arial" panose="020B0604020202020204" pitchFamily="34" charset="0"/>
              </a:rPr>
              <a:t>1-Multidisciplinary medical support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including: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1-Chest specialist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for lung health assessment.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2-Internal medicine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specialist for overall health evaluation.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3-Nutritionist for personalized diet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plans.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4-Psychologist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for emotional support and addiction management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2-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All-in-one platform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combines smoking cessation, health monitoring, and early disease prevention in a single website.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3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-Personalized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3–6 month quitting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step-by-step guidance tailored to each user's progress.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4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-Continuous follow-up and progress tracking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through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daily and weekly monitoring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keep users motivated and committed.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75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414EE6D9-1B19-070C-605F-37C08EB5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7E55D0-05E2-7FFF-4E4E-663B410BF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608"/>
            <a:ext cx="9144000" cy="1253765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endParaRPr lang="en-US" dirty="0"/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A76F2907-408A-CC77-6AF5-114DC83BD71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FF784E8F-CF04-E102-3557-92535C29EA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D98986B3-580D-1A1E-0182-45024768E0F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0EE9514-6259-392E-03D4-D6F66C9CCB6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37E1DC2D-D104-5673-61CE-E03B294CB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180F3AB-CA64-9C5E-EB9E-4D77DAF70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327" y="1335278"/>
            <a:ext cx="10435472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Unique Value Proposition (UVP)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5-Medical test and screening recommendations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based on the user's condition, helping them know exactly which </a:t>
            </a: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examinations to undergo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7-Smoking alternatives and practical quitting strategies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nicotine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dependence gradually and sustainably.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8-Personalized healthy lifestyle plans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including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nutrition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hydration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sleep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physical activity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9-Strong focus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early cancer detection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encouraging preventive screening and timely medical intervention to improve health outcomes.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10- An artificial intelligence system</a:t>
            </a:r>
            <a:r>
              <a:rPr lang="ar-EG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and Prediction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to assist patients with the early detection of cancer or any smoking-related disease.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04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68C86B54-4662-A5AD-85C3-EB9446C9E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AA00CC-DC07-A530-6762-70D5DE944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608"/>
            <a:ext cx="9144000" cy="1253765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endParaRPr lang="en-US" dirty="0"/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686A5F79-2182-46DD-BF10-1CF127F3A69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F70B8370-6A3D-31B1-EB8D-AF33C62D97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1D137D4F-820C-5303-CF78-A095D7148E81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1260249-1C6C-ACF8-7396-BD04E2D8A1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B8BF2925-F6A1-A115-8DD2-E5E911785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8A3F7A2-024D-C621-DD45-047CB6722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034" y="944844"/>
            <a:ext cx="10435472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/>
              <a:t> </a:t>
            </a:r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primary user personas 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Smokers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(nicotine and Alcohol) who wants to quit smoking and improve health</a:t>
            </a: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Key Features that address user needs : 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1-Quit Smoking Plan</a:t>
            </a:r>
            <a:endParaRPr lang="en-US" sz="2400" b="1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2-Daily Tracking 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3-AI Analysis &amp; Prediction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4- Early detection of cancer</a:t>
            </a:r>
            <a:endParaRPr lang="ar-EG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ar-E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-5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Upload Medical Scans </a:t>
            </a:r>
          </a:p>
          <a:p>
            <a:r>
              <a:rPr lang="ar-E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-Nutrition Plan </a:t>
            </a:r>
            <a:r>
              <a:rPr lang="ar-E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&amp;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balanced diet</a:t>
            </a:r>
          </a:p>
          <a:p>
            <a:r>
              <a:rPr lang="ar-EG" sz="2400" dirty="0"/>
              <a:t>7</a:t>
            </a:r>
            <a:r>
              <a:rPr lang="en-US" sz="2400" dirty="0"/>
              <a:t>-Psychological Support </a:t>
            </a:r>
          </a:p>
          <a:p>
            <a:r>
              <a:rPr lang="ar-EG" sz="2400" dirty="0"/>
              <a:t>8</a:t>
            </a:r>
            <a:r>
              <a:rPr lang="en-US" sz="2400" dirty="0"/>
              <a:t>-Reminder Notifications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0815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DAFBAA44-3885-11F3-1A19-CA7EB7A35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2542F6-DDB4-1FE9-9BE9-C2EEAE9A6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608"/>
            <a:ext cx="9144000" cy="1253765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endParaRPr lang="en-US" dirty="0"/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DE394242-6B85-A228-2D42-4EB2FEA419A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92F812DE-675A-212D-7D61-2ED2079D08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696036E8-819B-1C18-88AC-2BCB510B00D6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D8956C0-820E-59F2-19F9-66FE34E8AC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FBA2F47F-29AE-70F4-3C76-F4FC3BC27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6DD5912-ED6F-0E4F-C676-9C70DE42C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047" y="1369927"/>
            <a:ext cx="10435472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</a:rPr>
              <a:t>how the features solve the problems of each end-user</a:t>
            </a:r>
            <a:r>
              <a:rPr lang="ar-EG" sz="2800" b="1" u="sng" dirty="0">
                <a:solidFill>
                  <a:schemeClr val="accent1">
                    <a:lumMod val="75000"/>
                  </a:schemeClr>
                </a:solidFill>
              </a:rPr>
              <a:t> 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1-Quit Smoking Plan</a:t>
            </a:r>
            <a:r>
              <a:rPr lang="ar-EG" sz="2400" b="1" u="sng" dirty="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help smoker to quit smoking By reducing 2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Cigrattes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per week and about 3 month the smoker will completely quit smoking.</a:t>
            </a:r>
            <a:endParaRPr lang="en-US" sz="2400" b="1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2-Daily Tracking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Daily and weekly follow-up.</a:t>
            </a:r>
          </a:p>
          <a:p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3-AI Analysis &amp; Prediction :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calculate the risk score and avoided the risk of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Lung’damaged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, hypertension , cholesterol level and BMI .</a:t>
            </a:r>
            <a:endParaRPr lang="en-US" sz="24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4- Early detection of cancer :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avoided Lung Cancer that result of smoking.</a:t>
            </a:r>
            <a:endParaRPr lang="ar-EG" sz="24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0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4B1937BB-F8BE-02D2-45C3-157AD6FDF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61B68F-D477-8AD6-C219-C03105460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608"/>
            <a:ext cx="9144000" cy="1253765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endParaRPr lang="en-US" dirty="0"/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975B0917-64E5-79B2-ADC7-668C5A7B738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59F736D6-5C5F-7F8F-7BAB-B87171DBE4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99A2F4D-83F3-831F-0AF2-6FFDBEAF2FE7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CA3D27B-A009-9E16-2211-90A96EEE2D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D31F8954-4EF7-EE09-9362-576ED5568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44B48D8-4E7D-C575-AEA6-1688DFC30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59" y="1481362"/>
            <a:ext cx="10435472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</a:rPr>
              <a:t>how the features solve the problems of each end-user</a:t>
            </a:r>
            <a:r>
              <a:rPr lang="ar-EG" sz="2800" b="1" u="sng" dirty="0">
                <a:solidFill>
                  <a:schemeClr val="accent1">
                    <a:lumMod val="75000"/>
                  </a:schemeClr>
                </a:solidFill>
              </a:rPr>
              <a:t> :</a:t>
            </a:r>
          </a:p>
          <a:p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ar-EG" sz="2400" b="1" u="sng" dirty="0">
                <a:solidFill>
                  <a:schemeClr val="accent1">
                    <a:lumMod val="75000"/>
                  </a:schemeClr>
                </a:solidFill>
              </a:rPr>
              <a:t>5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-Upload Medical Scans :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 assists in analyzing and reviewing medical images and reminds you of scheduled check-ups every 3 or 6 months.</a:t>
            </a:r>
          </a:p>
          <a:p>
            <a:r>
              <a:rPr lang="ar-EG" sz="2400" b="1" u="sng" dirty="0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-Nutrition Plan </a:t>
            </a:r>
            <a:r>
              <a:rPr lang="ar-EG" sz="2400" b="1" u="sng" dirty="0">
                <a:solidFill>
                  <a:schemeClr val="accent1">
                    <a:lumMod val="75000"/>
                  </a:schemeClr>
                </a:solidFill>
              </a:rPr>
              <a:t>&amp; 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 balanced diet </a:t>
            </a:r>
            <a:r>
              <a:rPr lang="ar-EG" sz="24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Implementing a comprehensive nutritional plan</a:t>
            </a:r>
            <a:r>
              <a:rPr lang="ar-EG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food , drinks and  sleep  that includes real-time monitoring and a regular exercise routine.</a:t>
            </a:r>
          </a:p>
          <a:p>
            <a:r>
              <a:rPr lang="ar-EG" sz="2400" b="1" u="sng" dirty="0">
                <a:solidFill>
                  <a:schemeClr val="accent1">
                    <a:lumMod val="75000"/>
                  </a:schemeClr>
                </a:solidFill>
              </a:rPr>
              <a:t>7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-Psychological Support </a:t>
            </a:r>
            <a:r>
              <a:rPr lang="ar-EG" sz="2400" b="1" u="sng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Ongoing psychological support to overcome this difficult period.</a:t>
            </a:r>
          </a:p>
          <a:p>
            <a:r>
              <a:rPr lang="ar-EG" sz="2400" b="1" u="sng" dirty="0">
                <a:solidFill>
                  <a:schemeClr val="accent1">
                    <a:lumMod val="75000"/>
                  </a:schemeClr>
                </a:solidFill>
              </a:rPr>
              <a:t>8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-Reminder Notifications :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Sending continuous notifications to remind of appointments.</a:t>
            </a:r>
            <a:endParaRPr lang="en-US" sz="24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99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D2F7C0D6-3260-766E-0642-985E5CB07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84DC84-A9ED-094C-CF85-C4DE28973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608"/>
            <a:ext cx="9144000" cy="1253765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endParaRPr lang="en-US" dirty="0"/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11479F65-381C-90C9-E90C-FB10B735600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FC1D7273-86EC-0E78-60F5-913686F13B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1846340-DA33-FA04-8A96-15C43E3C908B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CC64DAE-F23B-5E3B-3498-0A181935A8F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44A3E410-C9EE-914B-93DB-60F32740D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8005EF5-1177-244B-C56D-589DADDDB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22" y="1121527"/>
            <a:ext cx="1043547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Scientific References </a:t>
            </a:r>
            <a:b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Health &amp; Smoking Dataset</a:t>
            </a:r>
          </a:p>
          <a:p>
            <a:endParaRPr lang="ar-EG" sz="24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b="1" dirty="0"/>
              <a:t>1- WHO </a:t>
            </a:r>
            <a:r>
              <a:rPr lang="en-US" sz="1800" dirty="0"/>
              <a:t>— World Health Organization (Tobacco and Cancer Fact Sheet (2023) )</a:t>
            </a:r>
          </a:p>
          <a:p>
            <a:r>
              <a:rPr lang="en-US" sz="1800" b="1" u="sng" dirty="0">
                <a:solidFill>
                  <a:schemeClr val="accent1">
                    <a:lumMod val="75000"/>
                  </a:schemeClr>
                </a:solidFill>
                <a:hlinkClick r:id="rId4"/>
              </a:rPr>
              <a:t>https://www.who.int/news-room/fact-sheets/detail/tobacco</a:t>
            </a:r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dirty="0"/>
              <a:t>2- </a:t>
            </a:r>
            <a:r>
              <a:rPr lang="en-US" sz="1800" b="1" dirty="0"/>
              <a:t>Gandini S. et al. </a:t>
            </a:r>
            <a:r>
              <a:rPr lang="en-US" sz="1800" dirty="0"/>
              <a:t>(2008) </a:t>
            </a:r>
            <a:br>
              <a:rPr lang="en-US" sz="1800" dirty="0"/>
            </a:br>
            <a:r>
              <a:rPr lang="en-US" sz="1800" dirty="0"/>
              <a:t>Tobacco Smoking and Cancer: A Meta-Analysis </a:t>
            </a:r>
            <a:br>
              <a:rPr lang="en-US" sz="1800" dirty="0"/>
            </a:br>
            <a:r>
              <a:rPr lang="en-US" sz="1800" dirty="0"/>
              <a:t>European Journal of Cancer, 44(8): 1293–1301 </a:t>
            </a:r>
          </a:p>
          <a:p>
            <a:r>
              <a:rPr lang="en-US" sz="1800" b="1" u="sng" dirty="0">
                <a:solidFill>
                  <a:schemeClr val="accent1">
                    <a:lumMod val="75000"/>
                  </a:schemeClr>
                </a:solidFill>
                <a:hlinkClick r:id="rId5"/>
              </a:rPr>
              <a:t>https://doi.org/10.1016/j.ejca.2007.12.026</a:t>
            </a:r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dirty="0"/>
              <a:t>3- </a:t>
            </a:r>
            <a:r>
              <a:rPr lang="en-US" sz="1800" b="1" dirty="0"/>
              <a:t>Doll R. &amp; Peto R</a:t>
            </a:r>
            <a:r>
              <a:rPr lang="en-US" sz="1800" dirty="0"/>
              <a:t>. (1976) </a:t>
            </a:r>
            <a:br>
              <a:rPr lang="en-US" sz="1800" dirty="0"/>
            </a:br>
            <a:r>
              <a:rPr lang="en-US" sz="1800" dirty="0"/>
              <a:t>Mortality in Relation to Smoking: 20 Years' Observations </a:t>
            </a:r>
            <a:br>
              <a:rPr lang="en-US" sz="1800" dirty="0"/>
            </a:br>
            <a:r>
              <a:rPr lang="en-US" sz="1800" dirty="0"/>
              <a:t>British Medical Journal </a:t>
            </a:r>
          </a:p>
          <a:p>
            <a:r>
              <a:rPr lang="en-US" sz="1800" b="1" u="sng" dirty="0">
                <a:solidFill>
                  <a:schemeClr val="accent1">
                    <a:lumMod val="75000"/>
                  </a:schemeClr>
                </a:solidFill>
                <a:hlinkClick r:id="rId6"/>
              </a:rPr>
              <a:t>https://doi.org/10.1136/bmj.2.6051.1525</a:t>
            </a:r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999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3A9C1AB2-BD14-EFFA-E28D-73D274C1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55CC2E-2FE8-7463-0534-05ADCCB37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608"/>
            <a:ext cx="9144000" cy="1253765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endParaRPr lang="en-US" dirty="0"/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33792D2B-A997-5B13-A53B-B5BBE519FDC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ECC19D69-C55D-2108-4573-0A8C386F5A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44D6A641-B210-7902-1F5C-68944430F9A6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191CACD-963D-AF94-23C0-B6FCD2A2513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E163F497-FE73-8072-C530-D4F9493A0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92CFCDF-AB13-92BB-770B-7452F5E22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07" y="1051918"/>
            <a:ext cx="1043547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Scientific References </a:t>
            </a:r>
            <a:b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Health &amp; Smoking Dataset</a:t>
            </a:r>
          </a:p>
          <a:p>
            <a:endParaRPr lang="ar-EG" sz="24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dirty="0"/>
              <a:t>4- </a:t>
            </a:r>
            <a:r>
              <a:rPr lang="en-US" sz="1800" b="1" dirty="0"/>
              <a:t>NCI</a:t>
            </a:r>
            <a:r>
              <a:rPr lang="en-US" sz="1800" dirty="0"/>
              <a:t> — National Cancer Institute (USA) </a:t>
            </a:r>
            <a:br>
              <a:rPr lang="en-US" sz="1800" dirty="0"/>
            </a:br>
            <a:r>
              <a:rPr lang="en-US" sz="1800" dirty="0"/>
              <a:t>SEER Database  </a:t>
            </a:r>
          </a:p>
          <a:p>
            <a:r>
              <a:rPr lang="en-US" sz="1800" b="1" u="sng" dirty="0">
                <a:solidFill>
                  <a:schemeClr val="accent1">
                    <a:lumMod val="75000"/>
                  </a:schemeClr>
                </a:solidFill>
                <a:hlinkClick r:id="rId4"/>
              </a:rPr>
              <a:t>https://www.who.int/news-room/fact-sheets/detail/tobacco</a:t>
            </a:r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dirty="0"/>
              <a:t>5- </a:t>
            </a:r>
            <a:r>
              <a:rPr lang="en-US" sz="1800" b="1" dirty="0"/>
              <a:t>Slaughter D.P. et al. </a:t>
            </a:r>
            <a:r>
              <a:rPr lang="en-US" sz="1800" dirty="0"/>
              <a:t>(1953) </a:t>
            </a:r>
            <a:br>
              <a:rPr lang="en-US" sz="1800" dirty="0"/>
            </a:br>
            <a:r>
              <a:rPr lang="en-US" sz="1800" dirty="0"/>
              <a:t>Field Cancerization in Oral Stratified Squamous Epithelium </a:t>
            </a:r>
            <a:br>
              <a:rPr lang="en-US" sz="1800" dirty="0"/>
            </a:br>
            <a:r>
              <a:rPr lang="en-US" sz="1800" dirty="0"/>
              <a:t>Cancer, 6(5) </a:t>
            </a:r>
          </a:p>
          <a:p>
            <a:r>
              <a:rPr lang="en-US" sz="1800" b="1" u="sng" dirty="0">
                <a:solidFill>
                  <a:schemeClr val="accent1">
                    <a:lumMod val="75000"/>
                  </a:schemeClr>
                </a:solidFill>
                <a:hlinkClick r:id="rId5"/>
              </a:rPr>
              <a:t>https://doi.org/10.1002/1097-0142(19530901)6:5</a:t>
            </a:r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dirty="0"/>
              <a:t>6- </a:t>
            </a:r>
            <a:r>
              <a:rPr lang="en-US" sz="1800" b="1" dirty="0"/>
              <a:t>IARC </a:t>
            </a:r>
            <a:r>
              <a:rPr lang="en-US" sz="1800" dirty="0"/>
              <a:t>— GLOBOCAN 2020 </a:t>
            </a:r>
            <a:br>
              <a:rPr lang="en-US" sz="1800" dirty="0"/>
            </a:br>
            <a:r>
              <a:rPr lang="en-US" sz="1800" dirty="0"/>
              <a:t>Global Cancer Observatory — Worldwide Incidence Statistics </a:t>
            </a:r>
          </a:p>
          <a:p>
            <a:r>
              <a:rPr lang="en-US" sz="1800" b="1" u="sng" dirty="0">
                <a:solidFill>
                  <a:schemeClr val="accent1">
                    <a:lumMod val="75000"/>
                  </a:schemeClr>
                </a:solidFill>
              </a:rPr>
              <a:t>https://gco.iarc.fr/</a:t>
            </a: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87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248A2587-9520-B407-A23C-2C99A0FFA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D769CA40-D3EB-C84B-8EEE-0745BEF443C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D77EE08C-B989-FA6E-7204-487E45D21B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4D1DBC34-F19A-1A53-C163-DEBDB90AB110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A7229EC-2CE1-B018-74D3-85E04F06364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CA7D7F88-378B-81DE-B9A7-A101A64B6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3A658C3-9359-B9A5-8ADB-1F4095AFE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059" y="986117"/>
            <a:ext cx="10435472" cy="78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More details about dataset</a:t>
            </a:r>
          </a:p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-30,000 Rows</a:t>
            </a:r>
          </a:p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- 18 columns</a:t>
            </a:r>
          </a:p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-Imbalanced data </a:t>
            </a:r>
          </a:p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(num of smoker != </a:t>
            </a:r>
          </a:p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 of nonsmokers)</a:t>
            </a:r>
          </a:p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-The relationships</a:t>
            </a:r>
          </a:p>
          <a:p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between Tables :-</a:t>
            </a: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D2FB75-C8FE-7997-BC90-F94FF45332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4674" y="1932643"/>
            <a:ext cx="5893656" cy="320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934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DCF14669-BCCA-6897-36EC-F0D9469C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80D09604-B57B-300F-25FF-4F91B2568EA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A296C2E6-C74A-211C-DD99-16134B22F6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3F847CF2-CEF2-924E-7691-BF010378B20B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4B8C7BD-BB29-B634-E929-E41162BD6EF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4F73FB6B-6CA0-D3D2-2774-CB8BF406E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2711729-4B3B-C902-9211-F84AFC941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203" y="1130206"/>
            <a:ext cx="10435472" cy="8617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Data cleaning :</a:t>
            </a:r>
          </a:p>
          <a:p>
            <a:r>
              <a:rPr lang="en-US" sz="2800" dirty="0"/>
              <a:t>The dataset was cleaned and transformed using </a:t>
            </a:r>
            <a:r>
              <a:rPr lang="en-US" sz="2800" b="1" dirty="0"/>
              <a:t>Power Query</a:t>
            </a:r>
            <a:r>
              <a:rPr lang="en-US" sz="2800" dirty="0"/>
              <a:t> to improve data quality and ensure accurate analysis.</a:t>
            </a:r>
            <a:endParaRPr lang="en-US" sz="2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b="1" dirty="0"/>
              <a:t>Promoted Headers </a:t>
            </a:r>
            <a:r>
              <a:rPr lang="en-US" sz="2800" dirty="0"/>
              <a:t>: Set the first row as column headers .</a:t>
            </a:r>
          </a:p>
          <a:p>
            <a:r>
              <a:rPr lang="en-US" sz="2800" b="1" dirty="0"/>
              <a:t>Changed Type </a:t>
            </a:r>
            <a:r>
              <a:rPr lang="en-US" sz="2800" dirty="0"/>
              <a:t>: Assigned the correct data type to each column </a:t>
            </a:r>
          </a:p>
          <a:p>
            <a:r>
              <a:rPr lang="en-US" sz="2800" b="1" dirty="0"/>
              <a:t>Removed Duplicates </a:t>
            </a:r>
            <a:r>
              <a:rPr lang="en-US" sz="2800" dirty="0"/>
              <a:t>:Removed duplicate records to ensure data uniqueness.</a:t>
            </a:r>
          </a:p>
          <a:p>
            <a:r>
              <a:rPr lang="en-US" sz="2800" b="1" dirty="0"/>
              <a:t>Replaced Value </a:t>
            </a:r>
            <a:r>
              <a:rPr lang="en-US" sz="2800" dirty="0"/>
              <a:t>: Standardized inconsistent values and handled missing or invalid entries.</a:t>
            </a:r>
          </a:p>
          <a:p>
            <a:r>
              <a:rPr lang="en-US" sz="2800" b="1" dirty="0"/>
              <a:t>Cleaned Text </a:t>
            </a:r>
            <a:r>
              <a:rPr lang="en-US" sz="2800" dirty="0"/>
              <a:t>:  Removed hidden and non printable characters from text values .</a:t>
            </a:r>
          </a:p>
          <a:p>
            <a:endParaRPr lang="en-US" sz="2800" dirty="0"/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994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E2615802-57D9-FFDA-FCA3-CC198F7A2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C51DFE89-4312-3B2C-1D0B-DD642397902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E0FE1010-B4D5-2ADF-37B4-A7FB640C2E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DA2DF382-62D7-24D3-9DD2-9A2997BE0067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4A8B114-9F27-24D2-02F1-31CD7F48F8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E5143B34-FE85-94B0-AB89-BA462587B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F0891CF-ADCC-ACB3-7D86-E283D248E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68" y="1050972"/>
            <a:ext cx="10695964" cy="7663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Programming Languages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Python     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</a:t>
            </a:r>
          </a:p>
          <a:p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Frameworks &amp; Libraries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Excel                          • power bi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power query               • </a:t>
            </a:r>
            <a:r>
              <a:rPr lang="en-US" sz="2400" dirty="0"/>
              <a:t>Matplotlib &amp; Seaborn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Pandas                       • NumPy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2400" dirty="0"/>
              <a:t>Scikit-learn                 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2400" dirty="0" err="1"/>
              <a:t>XGBoost</a:t>
            </a:r>
            <a:endParaRPr lang="en-US" sz="2400" dirty="0"/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2400" dirty="0" err="1"/>
              <a:t>LightGBM</a:t>
            </a:r>
            <a:r>
              <a:rPr lang="en-US" sz="2400" dirty="0"/>
              <a:t>                   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2400" dirty="0" err="1"/>
              <a:t>CatBoost</a:t>
            </a:r>
            <a:endParaRPr lang="en-US" sz="2400" dirty="0"/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2400" dirty="0"/>
              <a:t>SMOTE (Imbalanced-learn)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2400" dirty="0" err="1"/>
              <a:t>Joblib</a:t>
            </a:r>
            <a:endParaRPr lang="en-US" sz="2400" dirty="0"/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2400" dirty="0"/>
              <a:t>TQDM                         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2400" dirty="0" err="1"/>
              <a:t>Streamlit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2000" dirty="0"/>
          </a:p>
          <a:p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</a:rPr>
              <a:t>Supporting Technologies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Gemini                  • Git &amp; GitHub</a:t>
            </a:r>
          </a:p>
          <a:p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2000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800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800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1800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98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C734616D-944F-15A5-5856-D722BDCA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8DDA5478-8215-66F6-4F97-1F2EA2A2F21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645BF347-FB96-AD53-EC0D-B0649744E4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975DA662-DB0C-F14C-A373-8D4667DB2F3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C296301A-A4BB-689D-6159-5691F23861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09E34DBA-03CC-9401-DB41-B68A59B1C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FB225AD-273D-CC0C-6A92-6231C6CBF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81" y="831989"/>
            <a:ext cx="10435472" cy="78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Project Deliverables:-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1. Interactive Power BI Dashboard </a:t>
            </a:r>
          </a:p>
          <a:p>
            <a:r>
              <a:rPr lang="en-US" sz="2400" dirty="0"/>
              <a:t>A fully interactive </a:t>
            </a:r>
            <a:r>
              <a:rPr lang="en-US" sz="2400" b="1" dirty="0"/>
              <a:t>Power BI dashboard</a:t>
            </a:r>
            <a:r>
              <a:rPr lang="en-US" sz="2400" dirty="0"/>
              <a:t> designed to support healthcare professionals in monitoring patient health, identifying high-risk individuals, and analyzing cancer-related risk factors.</a:t>
            </a:r>
          </a:p>
          <a:p>
            <a:r>
              <a:rPr lang="en-US" sz="2400" dirty="0"/>
              <a:t>The dashboard consists of </a:t>
            </a:r>
            <a:r>
              <a:rPr lang="en-US" sz="2400" b="1" dirty="0"/>
              <a:t>four interactive pages</a:t>
            </a:r>
            <a:r>
              <a:rPr lang="en-US" sz="2400" dirty="0"/>
              <a:t>:</a:t>
            </a:r>
          </a:p>
          <a:p>
            <a:r>
              <a:rPr lang="en-US" sz="2400" b="1" dirty="0"/>
              <a:t>Overview Dashboard</a:t>
            </a:r>
            <a:endParaRPr lang="en-US" sz="2400" dirty="0"/>
          </a:p>
          <a:p>
            <a:r>
              <a:rPr lang="en-US" sz="2400" b="1" dirty="0"/>
              <a:t>Smoking Analysis Dashboard</a:t>
            </a:r>
            <a:endParaRPr lang="en-US" sz="2400" dirty="0"/>
          </a:p>
          <a:p>
            <a:r>
              <a:rPr lang="en-US" sz="2400" b="1" dirty="0"/>
              <a:t>Risk Assessment Dashboard</a:t>
            </a:r>
            <a:endParaRPr lang="en-US" sz="2400" dirty="0"/>
          </a:p>
          <a:p>
            <a:r>
              <a:rPr lang="en-US" sz="2400" b="1" dirty="0"/>
              <a:t>Cancer Insights Dashboard</a:t>
            </a:r>
            <a:endParaRPr lang="en-US" sz="2400" dirty="0"/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The dashboards includes:</a:t>
            </a:r>
          </a:p>
          <a:p>
            <a:r>
              <a:rPr lang="en-US" sz="2400" dirty="0"/>
              <a:t>1-Interactive KPIs                           2-Custom DAX Measures </a:t>
            </a:r>
          </a:p>
          <a:p>
            <a:r>
              <a:rPr lang="en-US" sz="2400" dirty="0"/>
              <a:t>3-Dynamic Charts &amp; Visualizations       4-Slicers and Filters </a:t>
            </a:r>
          </a:p>
          <a:p>
            <a:r>
              <a:rPr lang="en-US" sz="2400" dirty="0"/>
              <a:t>5-Drill-through &amp; Cross-filtering capabilities</a:t>
            </a: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20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18B618E0-B05A-77AA-1459-860F9DC0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2699E78A-6447-F51F-4ED4-490B672E507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2DEDC9A6-FB1D-33B0-817F-CFD548B419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B99E67AD-1A9A-6A41-DEE5-5753D682BB51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486F7FD-BF71-C165-74A1-3E4FA24CB4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F0140B3E-A93A-1ECA-26BD-B595A633C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E44FCA1-66C7-83C8-3629-CABA25B36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81" y="1570653"/>
            <a:ext cx="10435472" cy="6340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Project Deliverables:-</a:t>
            </a:r>
          </a:p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2. Prediction Model with machine learning</a:t>
            </a:r>
          </a:p>
          <a:p>
            <a:r>
              <a:rPr lang="en-US" sz="3200" dirty="0"/>
              <a:t>A machine learning model capable of </a:t>
            </a:r>
            <a:r>
              <a:rPr lang="en-US" sz="3200" b="1" dirty="0"/>
              <a:t>predicting </a:t>
            </a:r>
            <a:r>
              <a:rPr lang="en-US" sz="3200" dirty="0"/>
              <a:t>the likelihood of cancer diagnosis based on patient demographic, lifestyle, and medical characteristics.</a:t>
            </a:r>
          </a:p>
          <a:p>
            <a:r>
              <a:rPr lang="en-US" sz="3200" dirty="0"/>
              <a:t>The model provides:</a:t>
            </a:r>
          </a:p>
          <a:p>
            <a:r>
              <a:rPr lang="en-US" sz="3200" dirty="0"/>
              <a:t>Cancer prediction </a:t>
            </a:r>
          </a:p>
          <a:p>
            <a:r>
              <a:rPr lang="en-US" sz="3200" dirty="0"/>
              <a:t>Risk classification </a:t>
            </a: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421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7F86537A-0DC7-5A8E-6933-6F73BAA2B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2F212707-97A8-9A3B-6BC2-BBFCF756382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E3308BDB-8CDF-3737-6EDE-BC783E2C8B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19C129A8-A19E-4F87-90A9-00D2A19531E3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132407A-A10B-04CE-31F7-C5311B45C98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FAFBF888-6CC9-6D45-AA55-56A803A94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BFFE60E-B284-9BEF-DB5B-3C2F97629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81" y="924323"/>
            <a:ext cx="10435472" cy="7632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Project Deliverables:-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3. Smoking Recovery Website</a:t>
            </a:r>
          </a:p>
          <a:p>
            <a:r>
              <a:rPr lang="en-US" sz="2800" dirty="0"/>
              <a:t>A </a:t>
            </a:r>
            <a:r>
              <a:rPr lang="en-US" sz="2800" b="1" dirty="0"/>
              <a:t>user-friendly website </a:t>
            </a:r>
            <a:r>
              <a:rPr lang="en-US" sz="2800" dirty="0"/>
              <a:t>developed specifically for smokers to support their smoking cessation journey.</a:t>
            </a:r>
          </a:p>
          <a:p>
            <a:r>
              <a:rPr lang="en-US" sz="2800" dirty="0"/>
              <a:t>The website provides 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(UVP) :</a:t>
            </a:r>
          </a:p>
          <a:p>
            <a:r>
              <a:rPr lang="en-US" sz="2800" dirty="0"/>
              <a:t>Personalized risk assessment </a:t>
            </a:r>
          </a:p>
          <a:p>
            <a:r>
              <a:rPr lang="en-US" sz="2800" dirty="0"/>
              <a:t>Smoking habit tracking </a:t>
            </a:r>
          </a:p>
          <a:p>
            <a:r>
              <a:rPr lang="en-US" sz="2800" dirty="0"/>
              <a:t>Educational content about smoking-related diseases </a:t>
            </a:r>
          </a:p>
          <a:p>
            <a:r>
              <a:rPr lang="en-US" sz="2800" dirty="0"/>
              <a:t>Health improvement recommendations </a:t>
            </a:r>
          </a:p>
          <a:p>
            <a:r>
              <a:rPr lang="en-US" sz="2800" dirty="0"/>
              <a:t>Motivation and recovery guidance </a:t>
            </a:r>
          </a:p>
          <a:p>
            <a:r>
              <a:rPr lang="en-US" sz="2800" dirty="0"/>
              <a:t>Access to the prediction model for estimating individual cancer risk</a:t>
            </a: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971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262ABF54-02BD-824E-0036-0EE1C992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30ECB8AD-EAA1-9E4B-7D1A-D221B563724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6E86F917-4796-33E3-6E27-6A779AAF04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449EF8CE-D548-AA4E-0A2B-2F69062CE40D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7A48CB4-D221-C244-1109-C407A031C93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C0C3C07F-490A-FAAB-7494-2C7A8D184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E2A5DAE-B3F6-446A-585E-DBF91AB3E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975" y="278750"/>
            <a:ext cx="10435472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 dirty="0" err="1">
                <a:solidFill>
                  <a:schemeClr val="accent1">
                    <a:lumMod val="75000"/>
                  </a:schemeClr>
                </a:solidFill>
              </a:rPr>
              <a:t>OverView</a:t>
            </a:r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Page</a:t>
            </a: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8A3AA59-AED8-12CA-0EDE-F7616482B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669246"/>
              </p:ext>
            </p:extLst>
          </p:nvPr>
        </p:nvGraphicFramePr>
        <p:xfrm>
          <a:off x="509048" y="1016209"/>
          <a:ext cx="10916238" cy="542848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89485">
                  <a:extLst>
                    <a:ext uri="{9D8B030D-6E8A-4147-A177-3AD203B41FA5}">
                      <a16:colId xmlns:a16="http://schemas.microsoft.com/office/drawing/2014/main" val="19577889"/>
                    </a:ext>
                  </a:extLst>
                </a:gridCol>
                <a:gridCol w="9226753">
                  <a:extLst>
                    <a:ext uri="{9D8B030D-6E8A-4147-A177-3AD203B41FA5}">
                      <a16:colId xmlns:a16="http://schemas.microsoft.com/office/drawing/2014/main" val="764942274"/>
                    </a:ext>
                  </a:extLst>
                </a:gridCol>
              </a:tblGrid>
              <a:tr h="3142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 Insight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240485"/>
                  </a:ext>
                </a:extLst>
              </a:tr>
              <a:tr h="429767">
                <a:tc>
                  <a:txBody>
                    <a:bodyPr/>
                    <a:lstStyle/>
                    <a:p>
                      <a:r>
                        <a:rPr lang="en-US" b="1" dirty="0"/>
                        <a:t>Insight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</a:t>
                      </a:r>
                      <a:r>
                        <a:rPr lang="en-US" b="1" dirty="0"/>
                        <a:t>39–48 years</a:t>
                      </a:r>
                      <a:r>
                        <a:rPr lang="en-US" dirty="0"/>
                        <a:t> age group represents the largest proportion of patients in the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5252"/>
                  </a:ext>
                </a:extLst>
              </a:tr>
              <a:tr h="485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2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Former smokers consumed an average of </a:t>
                      </a:r>
                      <a:r>
                        <a:rPr lang="en-US" b="1" dirty="0"/>
                        <a:t>8 cigarettes per day</a:t>
                      </a:r>
                      <a:r>
                        <a:rPr lang="en-US" dirty="0"/>
                        <a:t>, suggesting that smoking intensity remains relatively high before quitting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679668"/>
                  </a:ext>
                </a:extLst>
              </a:tr>
              <a:tr h="485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3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Approximately </a:t>
                      </a:r>
                      <a:r>
                        <a:rPr lang="en-US" b="1" dirty="0"/>
                        <a:t>30%</a:t>
                      </a:r>
                      <a:r>
                        <a:rPr lang="en-US" dirty="0"/>
                        <a:t> of patients exhibit lifestyle-related risk factors based on smoking exposure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144864"/>
                  </a:ext>
                </a:extLst>
              </a:tr>
              <a:tr h="485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4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average Pack-Year score is </a:t>
                      </a:r>
                      <a:r>
                        <a:rPr lang="en-US" b="1" dirty="0"/>
                        <a:t>4.8</a:t>
                      </a:r>
                      <a:r>
                        <a:rPr lang="en-US" dirty="0"/>
                        <a:t>, indicating the cumulative impact of smoking duration and daily cigarette consumption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520206"/>
                  </a:ext>
                </a:extLst>
              </a:tr>
              <a:tr h="485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5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</a:t>
                      </a:r>
                      <a:r>
                        <a:rPr lang="en-US" b="1" dirty="0"/>
                        <a:t>15%</a:t>
                      </a:r>
                      <a:r>
                        <a:rPr lang="en-US" dirty="0"/>
                        <a:t> of the analyzed population are former smokers, indicating that a relatively small proportion of smokers successfully quit smoking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214967"/>
                  </a:ext>
                </a:extLst>
              </a:tr>
              <a:tr h="485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6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funnel shows a clear reduction from </a:t>
                      </a:r>
                      <a:r>
                        <a:rPr lang="en-US" b="1" dirty="0"/>
                        <a:t>30,000 patients</a:t>
                      </a:r>
                      <a:r>
                        <a:rPr lang="en-US" dirty="0"/>
                        <a:t> to </a:t>
                      </a:r>
                      <a:r>
                        <a:rPr lang="en-US" b="1" dirty="0"/>
                        <a:t>11,000 heavy smokers</a:t>
                      </a:r>
                      <a:r>
                        <a:rPr lang="en-US" dirty="0"/>
                        <a:t>, and finally to </a:t>
                      </a:r>
                      <a:r>
                        <a:rPr lang="en-US" b="1" dirty="0"/>
                        <a:t>9,000 diagnosed cancer cases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75602"/>
                  </a:ext>
                </a:extLst>
              </a:tr>
              <a:tr h="485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7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dataset is concentrated in the middle-aged population, with younger and older age groups representing smaller proportions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222583"/>
                  </a:ext>
                </a:extLst>
              </a:tr>
              <a:tr h="485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8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Patients remain in the </a:t>
                      </a:r>
                      <a:r>
                        <a:rPr lang="en-US" b="1" dirty="0"/>
                        <a:t>heavy smoking stage</a:t>
                      </a:r>
                      <a:r>
                        <a:rPr lang="en-US" dirty="0"/>
                        <a:t> for a considerable period before reaching cancer diagnosis, highlighting an important window for early intervention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394592"/>
                  </a:ext>
                </a:extLst>
              </a:tr>
              <a:tr h="485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9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combination of </a:t>
                      </a:r>
                      <a:r>
                        <a:rPr lang="en-US" b="1" dirty="0"/>
                        <a:t>age</a:t>
                      </a:r>
                      <a:r>
                        <a:rPr lang="en-US" dirty="0"/>
                        <a:t> and </a:t>
                      </a:r>
                      <a:r>
                        <a:rPr lang="en-US" b="1" dirty="0"/>
                        <a:t>smoking history</a:t>
                      </a:r>
                      <a:r>
                        <a:rPr lang="en-US" dirty="0"/>
                        <a:t> appears to be a stronger indicator of health deterioration than either factor alone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553947"/>
                  </a:ext>
                </a:extLst>
              </a:tr>
              <a:tr h="485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10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dashboard emphasizes that </a:t>
                      </a:r>
                      <a:r>
                        <a:rPr lang="en-US" b="1" dirty="0"/>
                        <a:t>quitting smoking is only the first step</a:t>
                      </a:r>
                      <a:r>
                        <a:rPr lang="en-US" dirty="0"/>
                        <a:t>. Continuous monitoring, personalized recommendations, and early medical screening are essential to reduce long-term cancer risk.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938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4252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AED2593A-9C4B-2F28-3DA5-07005E834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773B7C2C-543E-5FF7-7101-DC8D92A8C87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D3B6235D-AE61-CCD6-8A1F-D7C32D387A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0134DBFF-43C8-0795-34CE-3419DCBC6DBD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92B4767-744D-526D-1768-87F545FF8B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6522C718-5C31-7464-D34A-37E826136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C3DD31-95A9-2B6D-B405-B4AC5E90F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23" y="1093509"/>
            <a:ext cx="5379459" cy="3051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DE7A61-54DD-62C4-55F4-CC8C0710E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3472" y="2950591"/>
            <a:ext cx="5929461" cy="321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8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EC3566A7-7441-7F37-0521-1367CCA3E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1816E2FA-19D5-FD40-3B77-A39470FA160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250602B1-A853-C6DE-85B8-1C4BEC377C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DC0E4DC9-1CA4-D0F1-3B7A-042AFD9FC6B6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9">
            <a:extLst>
              <a:ext uri="{FF2B5EF4-FFF2-40B4-BE49-F238E27FC236}">
                <a16:creationId xmlns:a16="http://schemas.microsoft.com/office/drawing/2014/main" id="{23BC4777-F059-4368-4D6D-81170C6A8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DDAFF70-EF5D-F466-289B-942A91103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94" y="351915"/>
            <a:ext cx="10435472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Smoking Analysis Page</a:t>
            </a: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C9E911D-7A83-2552-7E19-152612FD86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FAFC1A9-374B-8D3A-2599-ACD1FF507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748598"/>
              </p:ext>
            </p:extLst>
          </p:nvPr>
        </p:nvGraphicFramePr>
        <p:xfrm>
          <a:off x="519208" y="1016209"/>
          <a:ext cx="10916238" cy="5516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2678">
                  <a:extLst>
                    <a:ext uri="{9D8B030D-6E8A-4147-A177-3AD203B41FA5}">
                      <a16:colId xmlns:a16="http://schemas.microsoft.com/office/drawing/2014/main" val="19577889"/>
                    </a:ext>
                  </a:extLst>
                </a:gridCol>
                <a:gridCol w="9243560">
                  <a:extLst>
                    <a:ext uri="{9D8B030D-6E8A-4147-A177-3AD203B41FA5}">
                      <a16:colId xmlns:a16="http://schemas.microsoft.com/office/drawing/2014/main" val="764942274"/>
                    </a:ext>
                  </a:extLst>
                </a:gridCol>
              </a:tblGrid>
              <a:tr h="3193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 Insight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240485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r>
                        <a:rPr lang="en-US" b="1" dirty="0"/>
                        <a:t>Insight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Smoking does </a:t>
                      </a:r>
                      <a:r>
                        <a:rPr lang="en-US" b="1" dirty="0"/>
                        <a:t>not</a:t>
                      </a:r>
                      <a:r>
                        <a:rPr lang="en-US" dirty="0"/>
                        <a:t> affect a single organ; it impacts multiple body systems. Therefore, healthcare providers should evaluate smokers using a </a:t>
                      </a:r>
                      <a:r>
                        <a:rPr lang="en-US" b="1" dirty="0"/>
                        <a:t>multi-organ assessment</a:t>
                      </a:r>
                      <a:r>
                        <a:rPr lang="en-US" dirty="0"/>
                        <a:t> rather than focusing only on lung diseases.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5252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2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smokers account for approximately </a:t>
                      </a:r>
                      <a:r>
                        <a:rPr lang="en-US" b="1" dirty="0"/>
                        <a:t>60%</a:t>
                      </a:r>
                      <a:r>
                        <a:rPr lang="en-US" dirty="0"/>
                        <a:t> of the analyzed population, and this is high percentage and should reduce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679668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3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Smoking duration and daily cigarette consumption differ between age groups, with middle-aged individuals showing the highest exposure.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144864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4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Patients with higher alcohol consumption also tend to present higher smoking-related health risks.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520206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5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average smoking duration is approximately </a:t>
                      </a:r>
                      <a:r>
                        <a:rPr lang="en-US" b="1" dirty="0"/>
                        <a:t>10 years</a:t>
                      </a:r>
                      <a:r>
                        <a:rPr lang="en-US" dirty="0"/>
                        <a:t>, indicating prolonged exposure to tobacco among many patients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214967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6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dashboard allows users to explore smoking-related impacts across the </a:t>
                      </a:r>
                      <a:r>
                        <a:rPr lang="en-US" b="1" dirty="0"/>
                        <a:t>heart, lungs, liver, and kidneys</a:t>
                      </a:r>
                      <a:r>
                        <a:rPr lang="en-US" dirty="0"/>
                        <a:t>, demonstrating that smoking is a systemic health risk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75602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7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Heavy smokers should be considered the highest-priority group for preventive healthcare because they combine </a:t>
                      </a:r>
                      <a:r>
                        <a:rPr lang="en-US" b="1" dirty="0"/>
                        <a:t>long smoking duration</a:t>
                      </a:r>
                      <a:r>
                        <a:rPr lang="en-US" dirty="0"/>
                        <a:t> with </a:t>
                      </a:r>
                      <a:r>
                        <a:rPr lang="en-US" b="1" dirty="0"/>
                        <a:t>high daily cigarette consumption .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222583"/>
                  </a:ext>
                </a:extLst>
              </a:tr>
              <a:tr h="5109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8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dashboard highlights that lifestyle factors should not be evaluated individually .</a:t>
                      </a:r>
                    </a:p>
                    <a:p>
                      <a:r>
                        <a:rPr lang="en-US" dirty="0"/>
                        <a:t>Smoking, alcohol consumption, BMI, and organ health together provide a more accurate assessment of patient risk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394592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9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dashboard identifies users who are most likely to benefit from personalized intervention before severe complications occur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553947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10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relationship between smoking status and organ condition suggests that quitting smoking may help reduce future organ deterioration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938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3887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608BB651-C7EA-C3F8-561B-57566C26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4E760CA5-945F-B6C0-1556-484BCAB5EED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E383F5F5-84EA-0113-A160-37AD8A6CA6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787DA370-4B48-93A7-B317-06DE2B257370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106083D-AD1E-914B-BE2E-3C06847E66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8B0C8B6A-6062-6CA8-9DA1-2BD1C1698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589562-0AD8-C124-2CA4-783D5C582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047" y="461238"/>
            <a:ext cx="1043547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Risk Page </a:t>
            </a: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56EF29-7438-93D8-56C1-0212AC247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237709"/>
              </p:ext>
            </p:extLst>
          </p:nvPr>
        </p:nvGraphicFramePr>
        <p:xfrm>
          <a:off x="458248" y="1107649"/>
          <a:ext cx="10916238" cy="497417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5352">
                  <a:extLst>
                    <a:ext uri="{9D8B030D-6E8A-4147-A177-3AD203B41FA5}">
                      <a16:colId xmlns:a16="http://schemas.microsoft.com/office/drawing/2014/main" val="19577889"/>
                    </a:ext>
                  </a:extLst>
                </a:gridCol>
                <a:gridCol w="9240886">
                  <a:extLst>
                    <a:ext uri="{9D8B030D-6E8A-4147-A177-3AD203B41FA5}">
                      <a16:colId xmlns:a16="http://schemas.microsoft.com/office/drawing/2014/main" val="764942274"/>
                    </a:ext>
                  </a:extLst>
                </a:gridCol>
              </a:tblGrid>
              <a:tr h="3193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 Insight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240485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r>
                        <a:rPr lang="en-US" b="1" dirty="0"/>
                        <a:t>Insight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Individuals aged </a:t>
                      </a:r>
                      <a:r>
                        <a:rPr lang="en-US" b="1" dirty="0"/>
                        <a:t>69+ years</a:t>
                      </a:r>
                      <a:r>
                        <a:rPr lang="en-US" dirty="0"/>
                        <a:t> </a:t>
                      </a:r>
                      <a:r>
                        <a:rPr lang="en-US" b="1" dirty="0"/>
                        <a:t>(order people) </a:t>
                      </a:r>
                      <a:r>
                        <a:rPr lang="en-US" dirty="0"/>
                        <a:t>show the highest combination of cholesterol and hypertension risk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5252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2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Around </a:t>
                      </a:r>
                      <a:r>
                        <a:rPr lang="en-US" b="1" dirty="0"/>
                        <a:t>70%</a:t>
                      </a:r>
                      <a:r>
                        <a:rPr lang="en-US" dirty="0"/>
                        <a:t> of high-risk patients have a positive family history and This is considered a high and alarming rate, indicating that smokers </a:t>
                      </a:r>
                      <a:r>
                        <a:rPr lang="en-US" b="1" dirty="0"/>
                        <a:t>pass on bad habits to their children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679668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3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Patients with a positive family history experience a noticeably higher number of cancer</a:t>
                      </a:r>
                      <a:r>
                        <a:rPr lang="ar-EG" dirty="0"/>
                        <a:t>  </a:t>
                      </a:r>
                      <a:r>
                        <a:rPr lang="en-US" dirty="0"/>
                        <a:t>diagnoses than those without a family history.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144864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4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Heavy smoking alone does not fully explain patient risk. Individuals with additional risk factors such as </a:t>
                      </a:r>
                      <a:r>
                        <a:rPr lang="en-US" b="1" dirty="0"/>
                        <a:t>family history, hypertension, elevated cholesterol, and alcohol consumption</a:t>
                      </a:r>
                      <a:r>
                        <a:rPr lang="en-US" dirty="0"/>
                        <a:t> face substantially greater health risks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520206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5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largest proportion of patients falls within the </a:t>
                      </a:r>
                      <a:r>
                        <a:rPr lang="en-US" b="1" dirty="0"/>
                        <a:t>Normal BP category</a:t>
                      </a:r>
                      <a:r>
                        <a:rPr lang="en-US" dirty="0"/>
                        <a:t>, while a considerable number are already classified as High Risk.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214967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6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Patients with higher alcohol consumption tend to present a higher proportion of elevated blood pressure risk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75602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7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Nearly </a:t>
                      </a:r>
                      <a:r>
                        <a:rPr lang="en-US" b="1" dirty="0"/>
                        <a:t>two-thirds of smokers are classified as heavy smokers 66 % </a:t>
                      </a:r>
                      <a:r>
                        <a:rPr lang="en-US" dirty="0"/>
                        <a:t>, reflecting prolonged and intensive tobacco exposure.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222583"/>
                  </a:ext>
                </a:extLst>
              </a:tr>
              <a:tr h="5109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8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Almost </a:t>
                      </a:r>
                      <a:r>
                        <a:rPr lang="en-US" b="1" dirty="0"/>
                        <a:t>59%</a:t>
                      </a:r>
                      <a:r>
                        <a:rPr lang="en-US" dirty="0"/>
                        <a:t> of analyzed lungs are already classified as damaged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394592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9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Approximately </a:t>
                      </a:r>
                      <a:r>
                        <a:rPr lang="en-US" b="1" dirty="0"/>
                        <a:t>60% of the analyzed patients are classified as high-risk</a:t>
                      </a:r>
                      <a:r>
                        <a:rPr lang="en-US" dirty="0"/>
                        <a:t>, indicating that more than half of the population requires preventive healthcare interventions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553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316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6FA46E04-8A88-D5FD-73A5-59462AD8B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D4274352-5C77-B069-80A4-1F1D9F37E92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C4D21A7E-5107-CF16-BDD1-494F0A0842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6250A71-31A8-48B9-A62D-F3302FD835F4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AE16468-8E8B-67EA-A527-15F121A7011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AF384983-2CEE-03C9-377D-ED93CF622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E4EFEB-B641-2BB5-D12B-19228DA2E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1" y="1061153"/>
            <a:ext cx="5588261" cy="3086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B68266-F207-5CE0-0656-6BF44E5F77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1754" y="3021635"/>
            <a:ext cx="5806911" cy="323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29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0339F932-2073-1D62-6145-20ECE0C74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AE6630AE-7DC3-63BB-4417-509ADC671D8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65DCB52A-DD57-48F2-8582-BB7B00DAF2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AF4E620E-D953-0176-B5E0-06E0C938B04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A92A24A-D966-BC8D-9BF5-AD9E3ECC9EF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82605111-4A73-45BA-1F0D-C8C39994F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12C3949-097C-1E4D-33E3-730898C6D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047" y="461238"/>
            <a:ext cx="1043547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Cancer Page </a:t>
            </a:r>
          </a:p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8AAE64-DB57-C341-166F-85BAF5AB3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664922"/>
              </p:ext>
            </p:extLst>
          </p:nvPr>
        </p:nvGraphicFramePr>
        <p:xfrm>
          <a:off x="630968" y="1117809"/>
          <a:ext cx="10916238" cy="49987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5352">
                  <a:extLst>
                    <a:ext uri="{9D8B030D-6E8A-4147-A177-3AD203B41FA5}">
                      <a16:colId xmlns:a16="http://schemas.microsoft.com/office/drawing/2014/main" val="19577889"/>
                    </a:ext>
                  </a:extLst>
                </a:gridCol>
                <a:gridCol w="9240886">
                  <a:extLst>
                    <a:ext uri="{9D8B030D-6E8A-4147-A177-3AD203B41FA5}">
                      <a16:colId xmlns:a16="http://schemas.microsoft.com/office/drawing/2014/main" val="764942274"/>
                    </a:ext>
                  </a:extLst>
                </a:gridCol>
              </a:tblGrid>
              <a:tr h="3193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 Insight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240485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r>
                        <a:rPr lang="en-US" b="1" dirty="0"/>
                        <a:t>Insight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dataset contains approximately </a:t>
                      </a:r>
                      <a:r>
                        <a:rPr lang="en-US" b="1" dirty="0"/>
                        <a:t>9,000 diagnosed cancer cases it represent 30 % </a:t>
                      </a:r>
                      <a:r>
                        <a:rPr lang="en-US" b="0" dirty="0"/>
                        <a:t>, it represent shifting </a:t>
                      </a:r>
                      <a:r>
                        <a:rPr lang="en-US" dirty="0"/>
                        <a:t>healthcare strategies from treatment toward </a:t>
                      </a:r>
                      <a:r>
                        <a:rPr lang="en-US" b="1" dirty="0"/>
                        <a:t>early detection and prevention</a:t>
                      </a:r>
                      <a:r>
                        <a:rPr lang="en-US" dirty="0"/>
                        <a:t>, particularly for high-risk individuals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845252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2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Nearly </a:t>
                      </a:r>
                      <a:r>
                        <a:rPr lang="en-US" b="1" dirty="0"/>
                        <a:t>59%</a:t>
                      </a:r>
                      <a:r>
                        <a:rPr lang="en-US" dirty="0"/>
                        <a:t> of patients have damaged organs, and </a:t>
                      </a:r>
                      <a:r>
                        <a:rPr lang="en-US" b="1" dirty="0"/>
                        <a:t>30%</a:t>
                      </a:r>
                      <a:r>
                        <a:rPr lang="en-US" dirty="0"/>
                        <a:t> of cancer cases occur among individuals with organ damage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679668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3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Patients with </a:t>
                      </a:r>
                      <a:r>
                        <a:rPr lang="en-US" b="1" dirty="0"/>
                        <a:t>damaged organs</a:t>
                      </a:r>
                      <a:r>
                        <a:rPr lang="en-US" dirty="0"/>
                        <a:t> consistently show higher cancer incidence than those with healthy organs, with </a:t>
                      </a:r>
                      <a:r>
                        <a:rPr lang="en-US" b="1" dirty="0"/>
                        <a:t>lung cancer</a:t>
                      </a:r>
                      <a:r>
                        <a:rPr lang="en-US" dirty="0"/>
                        <a:t> being the most common cancer type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144864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4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smokers account for the highest number of cancer cases across nearly all cancer types, particularly </a:t>
                      </a:r>
                      <a:r>
                        <a:rPr lang="en-US" b="1" dirty="0"/>
                        <a:t>lung cancer 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520206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5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Cancer diagnoses are significantly more frequent among </a:t>
                      </a:r>
                      <a:r>
                        <a:rPr lang="en-US" b="1" dirty="0"/>
                        <a:t>current smokers</a:t>
                      </a:r>
                      <a:r>
                        <a:rPr lang="en-US" dirty="0"/>
                        <a:t> than among former or never smokers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214967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6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Patients with </a:t>
                      </a:r>
                      <a:r>
                        <a:rPr lang="en-US" b="1" dirty="0"/>
                        <a:t>damaged organs</a:t>
                      </a:r>
                      <a:r>
                        <a:rPr lang="en-US" dirty="0"/>
                        <a:t> have a considerably higher number of cancer diagnoses compared with patients whose organs remain healthy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975602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7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Current smokers experience the highest number of lung cancer cases, exceeding both former and never smokers by a significant margin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222583"/>
                  </a:ext>
                </a:extLst>
              </a:tr>
              <a:tr h="5109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8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Family History filter allows healthcare professionals to compare cancer patterns between patients with and without genetic predisposition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394592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Insight 9</a:t>
                      </a:r>
                    </a:p>
                    <a:p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Former smokers consistently show fewer cancer cases than current smokers across all cancer types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553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76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E1EF0C00-1652-32BA-AC35-EA42550A3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DBAB4B4-ACE9-D2B8-19FC-8A32C1F7B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405765"/>
            <a:ext cx="10515600" cy="539115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The Prediction Model </a:t>
            </a:r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D29F453B-ED7E-AE51-4566-F06D8326A26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6349BA56-C4CB-6BAA-A4E0-A9E64BF9AB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DE0F6DD-EE42-B7E8-9906-4114D5371D9A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390900" y="3392488"/>
            <a:ext cx="8801100" cy="138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975CDB9-CE11-B943-742E-C9F623A1B7E5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9">
            <a:extLst>
              <a:ext uri="{FF2B5EF4-FFF2-40B4-BE49-F238E27FC236}">
                <a16:creationId xmlns:a16="http://schemas.microsoft.com/office/drawing/2014/main" id="{13473FC7-ABF0-BDBA-6456-19536F2E3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2B5E803-19F7-C49A-2414-A6EA7B4F7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81" y="3540424"/>
            <a:ext cx="10435472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90436A-8581-CF62-DD6B-E80A23770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1540" y="1564849"/>
            <a:ext cx="8996756" cy="402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48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76668E8F-9B3C-7759-0EA9-FB48EFD62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AC07321-4E9D-1155-E207-C0DCA7BE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405765"/>
            <a:ext cx="10515600" cy="539115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Project Roadmap &amp; Deliverables</a:t>
            </a:r>
          </a:p>
        </p:txBody>
      </p:sp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08F40771-4C04-0395-DC1D-8AC2D37D5E9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82ABEF0A-8C3D-83B2-C459-76C451D2A9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116010D-9DF9-FD32-E2FC-B4C87046BA2B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3390900" y="3392488"/>
            <a:ext cx="8801100" cy="1385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6078B8C9-5BC7-2C6B-5991-9E7CF6E1745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Rectangle 9">
            <a:extLst>
              <a:ext uri="{FF2B5EF4-FFF2-40B4-BE49-F238E27FC236}">
                <a16:creationId xmlns:a16="http://schemas.microsoft.com/office/drawing/2014/main" id="{4B3E05F0-2A43-3CCD-FEFA-6849F3E7B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628D75A-B9A2-111D-5345-137DC0221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581" y="3540424"/>
            <a:ext cx="10435472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3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387EF8-F032-1A2E-AD40-B47D8EE07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410580"/>
              </p:ext>
            </p:extLst>
          </p:nvPr>
        </p:nvGraphicFramePr>
        <p:xfrm>
          <a:off x="365760" y="1117601"/>
          <a:ext cx="11267440" cy="517997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47520">
                  <a:extLst>
                    <a:ext uri="{9D8B030D-6E8A-4147-A177-3AD203B41FA5}">
                      <a16:colId xmlns:a16="http://schemas.microsoft.com/office/drawing/2014/main" val="147834974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64769568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95547280"/>
                    </a:ext>
                  </a:extLst>
                </a:gridCol>
                <a:gridCol w="5008880">
                  <a:extLst>
                    <a:ext uri="{9D8B030D-6E8A-4147-A177-3AD203B41FA5}">
                      <a16:colId xmlns:a16="http://schemas.microsoft.com/office/drawing/2014/main" val="2696130090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Number of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 </a:t>
                      </a:r>
                      <a:r>
                        <a:rPr lang="en-US" sz="2400" dirty="0"/>
                        <a:t>Phase 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Duration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US" sz="2400" dirty="0"/>
                        <a:t>Key Deliverables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828578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 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Project Planning &amp; Data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  Week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Business understanding, dataset exploration, data cleaning, feature engineering, and data validation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966699"/>
                  </a:ext>
                </a:extLst>
              </a:tr>
              <a:tr h="67001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Exploratory Data Analysis (EDA)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 Week 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Statistical analysis , KPI definition , DAX planning and business insights identification 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085937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 Dashboard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 Week  3 &amp;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Development of the interactive power bi dashboard ( overview , smoking analysis , risk , Cancer insights pages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2004750"/>
                  </a:ext>
                </a:extLst>
              </a:tr>
              <a:tr h="67001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Machine Learning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 Week 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Data preprocessing , model training , evaluation , prediction module , and performance testing 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882678"/>
                  </a:ext>
                </a:extLst>
              </a:tr>
              <a:tr h="67001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Website Development &amp;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  Week  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Development of smoking Recovery website and integration with the prediction model 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092806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Phase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Testing, Documentation &amp; Final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  Week 7 &amp;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Dashboard testing , website testing , documentation , final presentation , and project deployment 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163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72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DB27385E-7E26-A432-15FD-D9A598D5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C92927C4-1AD6-8428-8524-C456CA41B23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631F4178-8867-0714-997C-33F1924E8A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83D4E176-F5AC-6B80-6D1E-C550F4758274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5E491AE-5EE5-03F3-748C-5B2159DAD0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68096294-D1AC-324F-2960-4BBF79508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8B14ABE-6212-D280-CC5A-C41E45E8A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39" y="1053554"/>
            <a:ext cx="10435472" cy="6771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Recommendations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1-Prioritize the Most Vulnerable Age Group :</a:t>
            </a:r>
          </a:p>
          <a:p>
            <a:r>
              <a:rPr lang="en-US" sz="2800" dirty="0"/>
              <a:t>Patients aged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39–48 years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800" dirty="0"/>
              <a:t>represent the highest-risk age group in the dataset so the website will targeted in </a:t>
            </a:r>
            <a:r>
              <a:rPr lang="en-US" sz="2800" b="1" dirty="0"/>
              <a:t>the first phase launch </a:t>
            </a:r>
            <a:r>
              <a:rPr lang="en-US" sz="2800" dirty="0"/>
              <a:t>this age then in the second launch will launch other ages .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2-Encourage Smoking Cessation :</a:t>
            </a:r>
          </a:p>
          <a:p>
            <a:r>
              <a:rPr lang="en-US" sz="2800" dirty="0"/>
              <a:t>Website should launch targeted smoking cessation programs, </a:t>
            </a:r>
            <a:r>
              <a:rPr lang="en-US" sz="2800" b="1" dirty="0"/>
              <a:t>especially for heavy smokers </a:t>
            </a:r>
            <a:r>
              <a:rPr lang="en-US" sz="2800" dirty="0"/>
              <a:t>.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3- Support Former Smokers :</a:t>
            </a:r>
          </a:p>
          <a:p>
            <a:r>
              <a:rPr lang="en-US" sz="2800" dirty="0"/>
              <a:t>Website should  support and encourage more smokers to transition into former smokers through continuous follow-up .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794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81951238-B26A-48FA-204B-1492CA90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13C53411-2F66-F688-892C-D29C6F21E41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E1902660-5C73-8F99-52A3-72ACC22E86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F548D1D-41E7-11E8-2A0C-9F865EB929F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6EF7F99-C5A3-9160-C2E4-7224FE0C96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BC457421-306D-87F7-D218-1174A7FC6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9985ACC-4825-A1DB-B51C-BAA4A9C39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044" y="1128373"/>
            <a:ext cx="10435472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Recommendations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4-Focus on Lung Health :</a:t>
            </a:r>
          </a:p>
          <a:p>
            <a:r>
              <a:rPr lang="en-US" sz="2800" dirty="0"/>
              <a:t>Patients with smoking history should undergo routine lung examinations and early screening before symptoms appear.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5- Family History Monitoring :</a:t>
            </a:r>
            <a:r>
              <a:rPr lang="en-US" sz="2800" dirty="0"/>
              <a:t> </a:t>
            </a:r>
          </a:p>
          <a:p>
            <a:r>
              <a:rPr lang="en-US" sz="2800" dirty="0"/>
              <a:t>Patients with a family history </a:t>
            </a:r>
            <a:r>
              <a:rPr lang="en-US" sz="2800" b="1" dirty="0"/>
              <a:t>require closer monitoring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6-Early Detection:</a:t>
            </a:r>
          </a:p>
          <a:p>
            <a:r>
              <a:rPr lang="en-US" sz="2800" dirty="0"/>
              <a:t>Website providers should prioritize preventive screening instead of waiting for symptoms to appear.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23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0C38EE19-5FB2-FA1F-C3DF-96EBB1B77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B0F65CB0-9B89-5298-1E65-30537B0BE77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86A2EB0E-83C4-D205-2577-F33C355C0F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FFE65163-979C-4E2B-1A0B-B64254096D0B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2202CD4-7245-0FFA-3697-9ED550CE90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77FD88E6-2DD7-B6E2-D9CD-0F8E720E7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F422014-5C6A-8725-A33C-A8CCCBF51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324" y="1227387"/>
            <a:ext cx="10435472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Other Recommendations for Website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7-</a:t>
            </a:r>
            <a:r>
              <a:rPr lang="en-US" sz="2800" b="1" dirty="0">
                <a:solidFill>
                  <a:schemeClr val="tx1"/>
                </a:solidFill>
              </a:rPr>
              <a:t>Health Recovery Timeline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8- </a:t>
            </a:r>
            <a:r>
              <a:rPr lang="en-US" sz="2800" b="1" dirty="0">
                <a:solidFill>
                  <a:schemeClr val="tx1"/>
                </a:solidFill>
              </a:rPr>
              <a:t>Money Saved Calculator .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9- </a:t>
            </a:r>
            <a:r>
              <a:rPr lang="en-US" sz="2800" b="1" dirty="0">
                <a:solidFill>
                  <a:schemeClr val="tx1"/>
                </a:solidFill>
              </a:rPr>
              <a:t>Challenge System </a:t>
            </a:r>
            <a:r>
              <a:rPr lang="en-US" sz="2800" dirty="0">
                <a:solidFill>
                  <a:schemeClr val="tx1"/>
                </a:solidFill>
              </a:rPr>
              <a:t>to support smoker continue this journey</a:t>
            </a:r>
            <a:r>
              <a:rPr lang="en-US" sz="2800" b="1" dirty="0">
                <a:solidFill>
                  <a:schemeClr val="tx1"/>
                </a:solidFill>
              </a:rPr>
              <a:t>.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10- </a:t>
            </a:r>
            <a:r>
              <a:rPr lang="en-US" sz="2800" b="1" dirty="0"/>
              <a:t>AI Health Coach </a:t>
            </a:r>
            <a:r>
              <a:rPr lang="en-US" sz="2800" dirty="0"/>
              <a:t>to ask chatbot for any help in the website .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11- </a:t>
            </a:r>
            <a:r>
              <a:rPr lang="en-US" sz="2800" b="1" dirty="0"/>
              <a:t>Health Journey Map</a:t>
            </a:r>
            <a:r>
              <a:rPr lang="ar-EG" sz="2800" b="1" dirty="0"/>
              <a:t> </a:t>
            </a:r>
            <a:r>
              <a:rPr lang="en-US" sz="2800" b="1" dirty="0"/>
              <a:t> </a:t>
            </a:r>
            <a:r>
              <a:rPr lang="en-US" sz="2800" dirty="0"/>
              <a:t>to monitors the patient's condition.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12- 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screening Reminder System </a:t>
            </a:r>
            <a:r>
              <a:rPr lang="en-US" sz="2800" dirty="0"/>
              <a:t>to schedule medical screenings and routine check-ups.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ar-EG" sz="2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46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>
          <a:extLst>
            <a:ext uri="{FF2B5EF4-FFF2-40B4-BE49-F238E27FC236}">
              <a16:creationId xmlns:a16="http://schemas.microsoft.com/office/drawing/2014/main" id="{9E1C4651-7A63-F1D4-6FB8-0EF2BBEA5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>
            <a:extLst>
              <a:ext uri="{FF2B5EF4-FFF2-40B4-BE49-F238E27FC236}">
                <a16:creationId xmlns:a16="http://schemas.microsoft.com/office/drawing/2014/main" id="{F4F4C72D-BA9E-C3AF-B7A0-C919292296C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/>
              <a:t>Smoking Analysis</a:t>
            </a:r>
          </a:p>
        </p:txBody>
      </p:sp>
      <p:sp>
        <p:nvSpPr>
          <p:cNvPr id="217" name="Google Shape;217;p11">
            <a:extLst>
              <a:ext uri="{FF2B5EF4-FFF2-40B4-BE49-F238E27FC236}">
                <a16:creationId xmlns:a16="http://schemas.microsoft.com/office/drawing/2014/main" id="{D3E58D3A-42F1-F1DB-2E5B-8FAF31FA32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FF1C6F7D-7335-AB25-3EA4-D60EB41D317D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E6E3CC8-A417-3E53-294E-2C6566F487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66506" y="3392935"/>
            <a:ext cx="880149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778434C5-13CF-F687-5DDC-C5BAB693D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96" y="3513966"/>
            <a:ext cx="10294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0B88F2E-D5FC-670D-A4A7-DF64D4F6B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411" y="915608"/>
            <a:ext cx="10473179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</a:rPr>
              <a:t>Team Member :-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Team leader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Yasmeen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hassan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engineering &amp; cleaning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Esraa Ali 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 &amp; Website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Salma Yasser 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Design dashboard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Merola Medhat &amp;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Mohraiel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Maher</a:t>
            </a: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Collaboration methods:-</a:t>
            </a:r>
            <a:endParaRPr lang="en-US" sz="2800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Zoom meeting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WhatsApp &amp; Telegram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Share point 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• Google Drive</a:t>
            </a: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400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 dirty="0"/>
              <a:t>Smoking Analysis</a:t>
            </a:r>
          </a:p>
        </p:txBody>
      </p:sp>
      <p:sp>
        <p:nvSpPr>
          <p:cNvPr id="137" name="Google Shape;1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EF23E53-BC50-EAD2-E1C7-F84DDAAA679F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234A626-10C4-50DE-CDBD-79BD4490F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058" y="279548"/>
            <a:ext cx="10039546" cy="6324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 for your time and attention.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appreciate the opportunity to present our project and share our vision for supporting smokers in achieving a healthier, smoke-free life.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Contact Information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📧 Email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yasmeenh359@gmail.com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💼 LinkedIn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 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https://www.linkedin.com/in/yasmeen-hassan-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🌐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 https://github.com/yasmeenh359-sketch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Questions &amp;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welcome your questions, comments, and valuable feedback.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You!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2816</Words>
  <Application>Microsoft Office PowerPoint</Application>
  <PresentationFormat>Widescreen</PresentationFormat>
  <Paragraphs>481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Book Antiqua</vt:lpstr>
      <vt:lpstr>Calibri</vt:lpstr>
      <vt:lpstr>Arial</vt:lpstr>
      <vt:lpstr>Office Theme</vt:lpstr>
      <vt:lpstr>Smoking Health Risk Analysis  </vt:lpstr>
      <vt:lpstr>Smoking Analysis  </vt:lpstr>
      <vt:lpstr> </vt:lpstr>
      <vt:lpstr> </vt:lpstr>
      <vt:lpstr> </vt:lpstr>
      <vt:lpstr> </vt:lpstr>
      <vt:lpstr> 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Prediction Model </vt:lpstr>
      <vt:lpstr>Project Roadmap &amp; Deliverables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Mirola</cp:lastModifiedBy>
  <cp:revision>15</cp:revision>
  <dcterms:created xsi:type="dcterms:W3CDTF">2024-03-14T10:03:54Z</dcterms:created>
  <dcterms:modified xsi:type="dcterms:W3CDTF">2026-07-01T22:04:57Z</dcterms:modified>
</cp:coreProperties>
</file>